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introduces the first two solution ideations: AI-driven demo creation and automated digital inclusion. Emphasize faster innovation, reduced manual effort, and improved compliance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covers agentic enrollment and executive portfolio dashboard value. Emphasize conversion lift, reduced reporting effort, real-time visibility, and faster business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0"/>
            <a:ext cx="512064" cy="6858000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0160">
            <a:solidFill>
              <a:srgbClr val="2F3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420624"/>
          </a:xfrm>
          <a:prstGeom prst="line">
            <a:avLst/>
          </a:prstGeom>
          <a:noFill/>
          <a:ln w="12700">
            <a:solidFill>
              <a:srgbClr val="2F3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Ideations &amp; Value Adds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6112" y="969264"/>
            <a:ext cx="8961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1–2: accelerating demos and inclusive digital experiences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100584" cy="4892040"/>
          </a:xfrm>
          <a:prstGeom prst="rect">
            <a:avLst/>
          </a:prstGeom>
          <a:solidFill>
            <a:srgbClr val="BFD3E6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536192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63624" y="1499616"/>
            <a:ext cx="4526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Driven Demo Website Builder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63624" y="1975104"/>
            <a:ext cx="448056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194560"/>
            <a:ext cx="865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Faced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91640" y="2496312"/>
            <a:ext cx="8656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Client-ready website demos take days and require design, content, and development effort.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64871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871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15640" y="2194560"/>
            <a:ext cx="865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Offered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15640" y="2496312"/>
            <a:ext cx="8656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generates demo content, layouts, styling, and publishing-ready pages from a simple brief.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17271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271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39640" y="2194560"/>
            <a:ext cx="865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39640" y="2496312"/>
            <a:ext cx="8656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demo creation time from days to minutes while improving sales engagement and consistency.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188720" y="3520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3630168"/>
            <a:ext cx="1316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 faster demos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58440" y="3520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1592" y="3630168"/>
            <a:ext cx="1316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validation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28160" y="3520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1312" y="3630168"/>
            <a:ext cx="1316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handoff effort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88720" y="5230368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188720" y="5513832"/>
            <a:ext cx="914400" cy="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102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5856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856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02082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06450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3204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204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19430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23798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0552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552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6778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7790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790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54126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6446520" y="137160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46520" y="1371600"/>
            <a:ext cx="100584" cy="489204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47688" y="1536192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7688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41464" y="1499616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Automating Digital Inclusion: Browser-Integrated AI Fixes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41464" y="1975104"/>
            <a:ext cx="438912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0255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0255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269480" y="2194560"/>
            <a:ext cx="8351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Faced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269480" y="2496312"/>
            <a:ext cx="83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issues are often discovered late, creating rework, compliance risk, and poor user experience.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819607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9607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8763000" y="2194560"/>
            <a:ext cx="8351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Offered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763000" y="2496312"/>
            <a:ext cx="83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Browser-integrated AI detects issues, recommends practical fixes, and produces compliance evidence.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968959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8959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0256520" y="2194560"/>
            <a:ext cx="8351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0256520" y="2496312"/>
            <a:ext cx="83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WCAG/ADA readiness, reduces remediation effort, and helps teams ship inclusive experiences.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6766560" y="3520440"/>
            <a:ext cx="143256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39712" y="3630168"/>
            <a:ext cx="1286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 less remediation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305800" y="3520440"/>
            <a:ext cx="143256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78952" y="3630168"/>
            <a:ext cx="1286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readiness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845040" y="3520440"/>
            <a:ext cx="143256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18192" y="3630168"/>
            <a:ext cx="1286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risk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766560" y="5230368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766560" y="5513832"/>
            <a:ext cx="914400" cy="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502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8364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364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99248" y="5824728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820" dirty="0"/>
          </a:p>
        </p:txBody>
      </p:sp>
      <p:sp>
        <p:nvSpPr>
          <p:cNvPr id="78" name="Text 76"/>
          <p:cNvSpPr/>
          <p:nvPr/>
        </p:nvSpPr>
        <p:spPr>
          <a:xfrm>
            <a:off x="891082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5222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222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385048" y="5824728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959662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2080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080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9070848" y="5824728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820" dirty="0"/>
          </a:p>
        </p:txBody>
      </p:sp>
      <p:sp>
        <p:nvSpPr>
          <p:cNvPr id="86" name="Text 84"/>
          <p:cNvSpPr/>
          <p:nvPr/>
        </p:nvSpPr>
        <p:spPr>
          <a:xfrm>
            <a:off x="1028242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8938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8938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756648" y="5824728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820" dirty="0"/>
          </a:p>
        </p:txBody>
      </p:sp>
      <p:sp>
        <p:nvSpPr>
          <p:cNvPr id="90" name="Text 88"/>
          <p:cNvSpPr/>
          <p:nvPr/>
        </p:nvSpPr>
        <p:spPr>
          <a:xfrm>
            <a:off x="10968228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5796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796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0442448" y="5824728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820" dirty="0"/>
          </a:p>
        </p:txBody>
      </p:sp>
      <p:sp>
        <p:nvSpPr>
          <p:cNvPr id="94" name="Shape 92"/>
          <p:cNvSpPr/>
          <p:nvPr/>
        </p:nvSpPr>
        <p:spPr>
          <a:xfrm>
            <a:off x="112654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2654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1128248" y="5824728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</a:t>
            </a:r>
            <a:endParaRPr lang="en-US" sz="820" dirty="0"/>
          </a:p>
        </p:txBody>
      </p:sp>
      <p:sp>
        <p:nvSpPr>
          <p:cNvPr id="97" name="Shape 95"/>
          <p:cNvSpPr/>
          <p:nvPr/>
        </p:nvSpPr>
        <p:spPr>
          <a:xfrm>
            <a:off x="10954512" y="0"/>
            <a:ext cx="201168" cy="868680"/>
          </a:xfrm>
          <a:prstGeom prst="rect">
            <a:avLst/>
          </a:prstGeom>
          <a:solidFill>
            <a:srgbClr val="21496B"/>
          </a:solidFill>
          <a:ln w="12700">
            <a:solidFill>
              <a:srgbClr val="21496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228832" y="0"/>
            <a:ext cx="201168" cy="1143000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78240" y="6537960"/>
            <a:ext cx="2560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Ideations &amp; Value Adds  |  Slide 1 of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0"/>
            <a:ext cx="512064" cy="6858000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0160">
            <a:solidFill>
              <a:srgbClr val="2F3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420624"/>
          </a:xfrm>
          <a:prstGeom prst="line">
            <a:avLst/>
          </a:prstGeom>
          <a:noFill/>
          <a:ln w="12700">
            <a:solidFill>
              <a:srgbClr val="2F3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Ideations &amp; Value Adds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6112" y="969264"/>
            <a:ext cx="8961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3–4: improving customer enrollment and leadership visibility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100584" cy="4892040"/>
          </a:xfrm>
          <a:prstGeom prst="rect">
            <a:avLst/>
          </a:prstGeom>
          <a:solidFill>
            <a:srgbClr val="D9E8F5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536192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63624" y="1499616"/>
            <a:ext cx="4526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Enrollment Zero Friction – Agentic Force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63624" y="1975104"/>
            <a:ext cx="448056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194560"/>
            <a:ext cx="865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Faced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91640" y="2496312"/>
            <a:ext cx="8656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lead handling and onboarding create delays, incomplete applications, and customer drop-offs.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64871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871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15640" y="2194560"/>
            <a:ext cx="865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Offered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15640" y="2496312"/>
            <a:ext cx="8656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Policy-aware AI agents capture leads, validate eligibility, pre-fill onboarding, and trigger compliance checks.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17271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271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39640" y="2194560"/>
            <a:ext cx="865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39640" y="2496312"/>
            <a:ext cx="8656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conversion, lowers operational effort, and guides applicants to funded accounts faster.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188720" y="3520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3630168"/>
            <a:ext cx="1316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20–30% conversion lift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58440" y="3520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1592" y="3630168"/>
            <a:ext cx="1316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drop-off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28160" y="3520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1312" y="3630168"/>
            <a:ext cx="1316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funding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88720" y="5230368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188720" y="5513832"/>
            <a:ext cx="914400" cy="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434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5856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856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02082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62445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3867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3867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90093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50456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1878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1878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78104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Pre-Fill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538467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889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889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6115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7790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4126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446520" y="137160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46520" y="1371600"/>
            <a:ext cx="100584" cy="4892040"/>
          </a:xfrm>
          <a:prstGeom prst="rect">
            <a:avLst/>
          </a:prstGeom>
          <a:solidFill>
            <a:srgbClr val="E4EEF7"/>
          </a:solidFill>
          <a:ln w="12700">
            <a:solidFill>
              <a:srgbClr val="E4EE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47688" y="1536192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47688" y="1636776"/>
            <a:ext cx="3840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141464" y="1499616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Portfolio Dashboard – Value Add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141464" y="1975104"/>
            <a:ext cx="438912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0255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255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269480" y="2194560"/>
            <a:ext cx="8351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Faced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269480" y="2496312"/>
            <a:ext cx="83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portfolio status is assembled manually and becomes stale before leadership can act on it.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819607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9607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763000" y="2194560"/>
            <a:ext cx="8351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Offered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8763000" y="2496312"/>
            <a:ext cx="83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dashboard reads source systems and answers questions on progress, delivery, capacity, risks, and releases.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9689592" y="2176272"/>
            <a:ext cx="475488" cy="4754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E21A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89592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0256520" y="2194560"/>
            <a:ext cx="8351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0256520" y="2496312"/>
            <a:ext cx="83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real-time visibility, reduces reporting work, and enables earlier risk detection.</a:t>
            </a:r>
            <a:endParaRPr lang="en-US" sz="920" dirty="0"/>
          </a:p>
        </p:txBody>
      </p:sp>
      <p:sp>
        <p:nvSpPr>
          <p:cNvPr id="70" name="Shape 68"/>
          <p:cNvSpPr/>
          <p:nvPr/>
        </p:nvSpPr>
        <p:spPr>
          <a:xfrm>
            <a:off x="6766560" y="3520440"/>
            <a:ext cx="143256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39712" y="3630168"/>
            <a:ext cx="1286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 less reporting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305800" y="3520440"/>
            <a:ext cx="143256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78952" y="3630168"/>
            <a:ext cx="1286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visibility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845040" y="3520440"/>
            <a:ext cx="1432560" cy="402336"/>
          </a:xfrm>
          <a:prstGeom prst="roundRect">
            <a:avLst>
              <a:gd name="adj" fmla="val 18182"/>
            </a:avLst>
          </a:prstGeom>
          <a:solidFill>
            <a:srgbClr val="EFF5FA"/>
          </a:solidFill>
          <a:ln w="7620">
            <a:solidFill>
              <a:srgbClr val="C8D9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918192" y="3630168"/>
            <a:ext cx="1286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metrics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766560" y="5230368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6766560" y="5513832"/>
            <a:ext cx="914400" cy="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1075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8364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364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59866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920" dirty="0"/>
          </a:p>
        </p:txBody>
      </p:sp>
      <p:sp>
        <p:nvSpPr>
          <p:cNvPr id="82" name="Text 80"/>
          <p:cNvSpPr/>
          <p:nvPr/>
        </p:nvSpPr>
        <p:spPr>
          <a:xfrm>
            <a:off x="916800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69365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69365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845591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Refresh</a:t>
            </a:r>
            <a:endParaRPr lang="en-US" sz="920" dirty="0"/>
          </a:p>
        </p:txBody>
      </p:sp>
      <p:sp>
        <p:nvSpPr>
          <p:cNvPr id="86" name="Text 84"/>
          <p:cNvSpPr/>
          <p:nvPr/>
        </p:nvSpPr>
        <p:spPr>
          <a:xfrm>
            <a:off x="1002525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5509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5509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31316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920" dirty="0"/>
          </a:p>
        </p:txBody>
      </p:sp>
      <p:sp>
        <p:nvSpPr>
          <p:cNvPr id="90" name="Text 88"/>
          <p:cNvSpPr/>
          <p:nvPr/>
        </p:nvSpPr>
        <p:spPr>
          <a:xfrm>
            <a:off x="10882503" y="5513832"/>
            <a:ext cx="146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40815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40815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017041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</a:t>
            </a:r>
            <a:endParaRPr lang="en-US" sz="920" dirty="0"/>
          </a:p>
        </p:txBody>
      </p:sp>
      <p:sp>
        <p:nvSpPr>
          <p:cNvPr id="94" name="Shape 92"/>
          <p:cNvSpPr/>
          <p:nvPr/>
        </p:nvSpPr>
        <p:spPr>
          <a:xfrm>
            <a:off x="11265408" y="5477256"/>
            <a:ext cx="29260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D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265408" y="554126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1027664" y="5824728"/>
            <a:ext cx="768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920" dirty="0"/>
          </a:p>
        </p:txBody>
      </p:sp>
      <p:sp>
        <p:nvSpPr>
          <p:cNvPr id="97" name="Shape 95"/>
          <p:cNvSpPr/>
          <p:nvPr/>
        </p:nvSpPr>
        <p:spPr>
          <a:xfrm>
            <a:off x="10954512" y="0"/>
            <a:ext cx="201168" cy="868680"/>
          </a:xfrm>
          <a:prstGeom prst="rect">
            <a:avLst/>
          </a:prstGeom>
          <a:solidFill>
            <a:srgbClr val="21496B"/>
          </a:solidFill>
          <a:ln w="12700">
            <a:solidFill>
              <a:srgbClr val="21496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228832" y="0"/>
            <a:ext cx="201168" cy="1143000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78240" y="6537960"/>
            <a:ext cx="2560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Ideations &amp; Value Adds  |  Slide 2 of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ABD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Ideations &amp; Value Adds - 4 Ideas in 2 Slides</dc:title>
  <dc:subject>Solution Ideations &amp; Value Adds</dc:subject>
  <dc:creator>OpenAI</dc:creator>
  <cp:lastModifiedBy>OpenAI</cp:lastModifiedBy>
  <cp:revision>1</cp:revision>
  <dcterms:created xsi:type="dcterms:W3CDTF">2026-06-18T14:31:58Z</dcterms:created>
  <dcterms:modified xsi:type="dcterms:W3CDTF">2026-06-18T14:31:58Z</dcterms:modified>
</cp:coreProperties>
</file>